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Profit &amp; Sales by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A6B8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2022</c:v>
                  </c:pt>
                  <c:pt idx="1">
                    <c:v>2023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517082</c:v>
                </c:pt>
                <c:pt idx="1">
                  <c:v>520585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9BAED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A6B8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2022</c:v>
                  </c:pt>
                  <c:pt idx="1">
                    <c:v>2023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5475202</c:v>
                </c:pt>
                <c:pt idx="1">
                  <c:v>5584785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5A6B8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8F5"/>
              </a:solidFill>
              <a:prstDash val="solid"/>
              <a:round/>
            </a:ln>
          </c:spPr>
        </c:majorGridlines>
        <c:numFmt formatCode="$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8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Margin % by Discount Level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2%</c:v>
                  </c:pt>
                  <c:pt idx="1">
                    <c:v>3%</c:v>
                  </c:pt>
                  <c:pt idx="2">
                    <c:v>4%</c:v>
                  </c:pt>
                  <c:pt idx="3">
                    <c:v>5%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10.72</c:v>
                </c:pt>
                <c:pt idx="1">
                  <c:v>9.79</c:v>
                </c:pt>
                <c:pt idx="2">
                  <c:v>9.24</c:v>
                </c:pt>
                <c:pt idx="3">
                  <c:v>7.88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8F5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Top 5 Sub-Categories by Discount Loss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Lost to Discount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A6B8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Phones</c:v>
                  </c:pt>
                  <c:pt idx="1">
                    <c:v>Chairs</c:v>
                  </c:pt>
                  <c:pt idx="2">
                    <c:v>Tables</c:v>
                  </c:pt>
                  <c:pt idx="3">
                    <c:v>Storage</c:v>
                  </c:pt>
                  <c:pt idx="4">
                    <c:v>Binders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59632</c:v>
                </c:pt>
                <c:pt idx="1">
                  <c:v>57624</c:v>
                </c:pt>
                <c:pt idx="2">
                  <c:v>41736</c:v>
                </c:pt>
                <c:pt idx="3">
                  <c:v>37385</c:v>
                </c:pt>
                <c:pt idx="4">
                  <c:v>36038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5A6B8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8F5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line to speak aloud: 'None of these three require new spend. They just require being more deliberate about the margin we already have.'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Efficiency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FY2022–FY2023 · Superstore Sales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24306E"/>
          </a:solidFill>
          <a:ln w="12700">
            <a:solidFill>
              <a:srgbClr val="3A4A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402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$1.04M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24306E"/>
          </a:solidFill>
          <a:ln w="12700">
            <a:solidFill>
              <a:srgbClr val="3A4A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22402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$11.06M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37560" y="3154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24306E"/>
          </a:solidFill>
          <a:ln w="12700">
            <a:solidFill>
              <a:srgbClr val="3A4A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2402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9.38%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26480" y="3154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201168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24306E"/>
          </a:solidFill>
          <a:ln w="12700">
            <a:solidFill>
              <a:srgbClr val="3A4A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22402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915400" y="3154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PROFIT GROWTH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64240" cy="0"/>
          </a:xfrm>
          <a:prstGeom prst="line">
            <a:avLst/>
          </a:prstGeom>
          <a:noFill/>
          <a:ln w="12700">
            <a:solidFill>
              <a:srgbClr val="3A4A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3484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verdict: </a:t>
            </a:r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is essentially flat year over year. The business isn't shrinking, but it isn't gaining ground either, and the data points to a specific, fixable reason why: discounting is quietly giving away margin faster than the business is growing it back.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Oluwapelumi Oyesanya  |  Data cleaned, n = 9,481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Business Actually Growing?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profit both grew from 2022 to 2023, but only marginally.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54480"/>
            <a:ext cx="3794760" cy="4663440"/>
          </a:xfrm>
          <a:prstGeom prst="roundRect">
            <a:avLst>
              <a:gd name="adj" fmla="val 1928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92440" y="18745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PROFIT GROWTH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92440" y="21488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+0.68%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092440" y="30632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entire year-over-year comparison this dataset supports, since it only spans two full years (2022–2023).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92440" y="4160520"/>
            <a:ext cx="324612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92440" y="434340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this small isn't a decline, but it isn't a growth story either. Without a specific intervention, next year likely looks the same.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Leak: Discounting Is Costing Us Margin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drops steadily as discount increases, and two categories account for most of the loss.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394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554480"/>
          <a:ext cx="5394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172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5% discount runs nearly 3 points lower margin than a 2% one, on every order.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and Chairs alone account for over $117,000 in profit lost to discounting.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It's Worst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category is unprofitable, but some are running on almost no cushion.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BF1F0"/>
          </a:solidFill>
          <a:ln w="12700">
            <a:solidFill>
              <a:srgbClr val="F0D6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FASTENERS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$458.60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profit, 2022–2023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BF1F0"/>
          </a:solidFill>
          <a:ln w="12700">
            <a:solidFill>
              <a:srgbClr val="F0D6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874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21945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$4,188.80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profit, 2022–2023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BF1F0"/>
          </a:solidFill>
          <a:ln w="12700">
            <a:solidFill>
              <a:srgbClr val="F0D6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874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66760" y="21945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$6,109.70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6676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profit, 2022–2023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14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BACKED BY REAL VOLUME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4805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 shipping runs an </a:t>
            </a:r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 margin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meaningfully below the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 margin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Standard Class, a gap backed by real order volume (about 2,000 Same Day orders vs. over 22,000 Standard Class orders, not a small sample). Faster shipping is costing more margin than it's likely recovering in fees.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Moves to Recover Margin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investment required. Ranked by priority.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24306E"/>
          </a:solidFill>
          <a:ln w="12700">
            <a:solidFill>
              <a:srgbClr val="3A4A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 discounts at 3–4% on Phones and Chairs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lines alone have lost over $117,000 to discounting. Estimated recovery: ~$9,200 on current 5%-discounted orders, up to ~$30,000 if applied company-wide.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5303520"/>
            <a:ext cx="3063240" cy="0"/>
          </a:xfrm>
          <a:prstGeom prst="line">
            <a:avLst/>
          </a:prstGeom>
          <a:noFill/>
          <a:ln w="12700">
            <a:solidFill>
              <a:srgbClr val="3A4A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4406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B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may soften order volume, pilot on these two categories first.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24306E"/>
          </a:solidFill>
          <a:ln w="12700">
            <a:solidFill>
              <a:srgbClr val="3A4A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25603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Reprice or bundle Fasteners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34747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Fasteners made just $458.60 in profit over two years, with no cushion left to absorb another bad quarter or more discounting.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0" y="5303520"/>
            <a:ext cx="3063240" cy="0"/>
          </a:xfrm>
          <a:prstGeom prst="line">
            <a:avLst/>
          </a:prstGeom>
          <a:noFill/>
          <a:ln w="12700">
            <a:solidFill>
              <a:srgbClr val="3A4A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54406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B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confirm it isn't a basket-sale item before repricing.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24306E"/>
          </a:solidFill>
          <a:ln w="12700">
            <a:solidFill>
              <a:srgbClr val="3A4A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66760" y="25603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Same Day shipping economics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34747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 margin (8.8%) trails Standard Class (9.5%) on real volume. Estimated recovery: ~$4,000 on current volume alone.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66760" y="5303520"/>
            <a:ext cx="3063240" cy="0"/>
          </a:xfrm>
          <a:prstGeom prst="line">
            <a:avLst/>
          </a:prstGeom>
          <a:noFill/>
          <a:ln w="12700">
            <a:solidFill>
              <a:srgbClr val="3A4A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54406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B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confirm Same Day fees cover its true cost.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B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three require new spend. They require being more deliberate about the margin we already have.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2026-08-14T07:42:11Z</dcterms:created>
  <dcterms:modified xsi:type="dcterms:W3CDTF">2026-08-14T07:42:11Z</dcterms:modified>
</cp:coreProperties>
</file>